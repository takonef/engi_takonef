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73" r:id="rId6"/>
    <p:sldId id="274" r:id="rId7"/>
    <p:sldId id="269" r:id="rId8"/>
    <p:sldId id="275" r:id="rId9"/>
    <p:sldId id="272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7958F"/>
    <a:srgbClr val="F7D756"/>
    <a:srgbClr val="9AC2D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1" autoAdjust="0"/>
    <p:restoredTop sz="94660"/>
  </p:normalViewPr>
  <p:slideViewPr>
    <p:cSldViewPr snapToGrid="0">
      <p:cViewPr varScale="1">
        <p:scale>
          <a:sx n="93" d="100"/>
          <a:sy n="93" d="100"/>
        </p:scale>
        <p:origin x="-17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D7C7F5-ECD3-D117-68F1-3F3F15C6C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0BCE6D8-3F50-3C63-1BA6-EBE73902C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EEFB034-BA0D-7DF8-7C1E-2B6C5382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A8AC691-A9B6-E84E-ECFD-E2E0063B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2328B1B-423E-CDC6-FDFA-F054B919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4960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36EDA1-308B-8EBB-DAE4-03030483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2919EAE-EE01-F114-76B9-BBA662494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BC1AF5B-B1C9-14CA-5C12-C2485F5E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CC9C783-073B-44B1-80C6-B4DD5D8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D696154-23FA-32F0-1775-89956E67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8643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AA222F-0F66-97B4-4643-B670AB82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8E24DF6-9BBD-F5A9-640A-F1853FEAB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817DF30-B752-C5B0-3E5D-FA222884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F157F0E-EE5A-ACA4-833E-F777E258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4EF03CD-A65E-03EB-319D-12BDBEB7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2959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6F77AB-A4C7-123E-EABF-CBAE93E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2F90DD-CC09-F348-4973-4127C6C76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0CD0E83-03C3-F6A8-408D-3C7E6FCD5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3B9BD7F-2835-7E89-7555-747EB951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DF1B8E1B-F7C0-04FF-31C4-034CA725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7123749-1A39-BD9C-85E5-F114A68A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454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906F27A-84A8-432C-DD80-09633640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F99F7D2-EB04-F0C4-56AB-F0A14865B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7FD86AC7-9D05-152B-C635-9BCE428F8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5CF83495-339E-64F0-9F6C-FC47C5C80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2E52EA8E-FDB6-715F-1543-B825AA042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C74C5962-9D42-00B8-5D2A-9FB3CE1B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EA05E1B7-6302-002E-5882-02A8120E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C90DC936-5EFA-72E9-7200-6CADA7C2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0492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5EFB4FC-12EB-575C-342E-DFFB7BB4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385D43FC-CF28-2EAD-0A25-0C72F3B3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C2FBB85-5FB5-B94C-3108-176E56C7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3690CCB-2F08-A60C-BC23-CD9049E1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5091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7E4A7250-1E81-2426-6774-4D2BF870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AE498C51-3437-CD5C-C6AD-0B5925C5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DD4CB04A-9CDE-C06C-83B7-D6737528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4056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24BAEE7-E167-1CD9-A6AE-20DC6AB0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F59D088-6A74-EA28-003F-1B4A5BD3C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4DFAB1D6-2D74-58AB-5B71-C39B033B9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B6B849E8-810F-79B1-B06F-40171E42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DC023BF-F544-4372-1C36-60E0C6B9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5F0B806-A488-C277-65A6-196CAD13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8734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9747239-D3FB-D1C6-66E8-05EF90E4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278FD5E2-0CE6-1E59-CFEA-EE43326F0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0D86323-9BEE-06C8-8ACB-F32553EF6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2B8BE04-66D2-3330-DCE3-51B3194E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398221D-B932-3E42-0139-A0405466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B632207E-39C8-A706-0EAB-69507D49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979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7CD93C9-945B-B5DA-C089-20BAF288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0C5C871-3AAA-03C3-6AD8-BE9B69556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09E1D75-164E-0000-B516-C6FCE952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E441B09-5E4A-B9FE-327E-3BBE3358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CD8A203-F1A3-62EF-2A1B-772CB57D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385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7D1E1691-36D5-5481-6C3D-9841AB471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A859F23-A0A9-CC74-17BE-6AC1971E4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052CAA5-09D7-FEE5-8231-CF7BB224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16DE5E2-D711-7B77-4974-8F01AB52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19EBBBC-AF4F-6D72-EB88-D2C26B53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432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335E5E9-C643-BB10-56A4-BA09EA6A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5321032-79A0-0CFD-81DC-2AF1E0A5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B03BBD1-B2A9-140F-56C2-B679C013C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88607-64A2-4BBC-9378-997FEBC707AF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2D66C3A-208D-BA84-770C-DAC8DED81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BA0D7F0-7820-B494-C7D2-4207D6884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1503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9FB1046-FD02-7942-2DBF-711688AB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184" y="2290697"/>
            <a:ext cx="9641305" cy="2276606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Bahnschrift Condensed" panose="020B0502040204020203" pitchFamily="34" charset="0"/>
              </a:rPr>
              <a:t>Расход затопленной струи</a:t>
            </a:r>
            <a:br>
              <a:rPr lang="ru-RU" sz="5400" dirty="0">
                <a:latin typeface="Bahnschrift Condensed" panose="020B0502040204020203" pitchFamily="34" charset="0"/>
              </a:rPr>
            </a:br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Б03-503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3783707-A6F5-8A81-C48A-8BEB25D69E17}"/>
              </a:ext>
            </a:extLst>
          </p:cNvPr>
          <p:cNvSpPr txBox="1"/>
          <p:nvPr/>
        </p:nvSpPr>
        <p:spPr>
          <a:xfrm>
            <a:off x="899180" y="5036521"/>
            <a:ext cx="2202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Работу выполнили: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Ефремова Татьяна 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Шутова Александра</a:t>
            </a:r>
          </a:p>
          <a:p>
            <a:r>
              <a:rPr lang="ru-RU" sz="2400" dirty="0" err="1">
                <a:latin typeface="Bahnschrift Condensed" panose="020B0502040204020203" pitchFamily="34" charset="0"/>
              </a:rPr>
              <a:t>Хачоян</a:t>
            </a:r>
            <a:r>
              <a:rPr lang="ru-RU" sz="2400" dirty="0">
                <a:latin typeface="Bahnschrift Condensed" panose="020B0502040204020203" pitchFamily="34" charset="0"/>
              </a:rPr>
              <a:t> Анаит</a:t>
            </a:r>
          </a:p>
        </p:txBody>
      </p:sp>
    </p:spTree>
    <p:extLst>
      <p:ext uri="{BB962C8B-B14F-4D97-AF65-F5344CB8AC3E}">
        <p14:creationId xmlns:p14="http://schemas.microsoft.com/office/powerpoint/2010/main" xmlns="" val="265887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6FACF4-EDA1-669B-BEA9-2CA40EBB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682" y="401423"/>
            <a:ext cx="10515600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521A278-13D8-17F4-BFB2-14C4A5AE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682" y="1760200"/>
            <a:ext cx="10515600" cy="3337600"/>
          </a:xfrm>
        </p:spPr>
        <p:txBody>
          <a:bodyPr anchor="t">
            <a:noAutofit/>
          </a:bodyPr>
          <a:lstStyle/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Цель работы и задачи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Теоретический материал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Экспериментальная установка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Результаты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Заключение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ru-RU" sz="2000" dirty="0">
              <a:latin typeface="Bahnschrift Condensed" panose="020B0502040204020203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128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ACAD25-E1ED-2FEC-0A67-071039E1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BFA27DB-9776-3467-3100-62CF70DB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Цель работы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5BDCB99-B809-6A70-F411-E0450DBFF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517" y="1083929"/>
            <a:ext cx="9906965" cy="5120226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36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Цель: </a:t>
            </a:r>
            <a:r>
              <a:rPr lang="ru-RU" sz="3600" dirty="0">
                <a:latin typeface="Bahnschrift Condensed" panose="020B0502040204020203" pitchFamily="34" charset="0"/>
              </a:rPr>
              <a:t>изучить зависимость расхода затопленной струи от расстояния до сопла</a:t>
            </a:r>
          </a:p>
          <a:p>
            <a:pPr marL="0" indent="0" algn="ctr">
              <a:buNone/>
            </a:pPr>
            <a:r>
              <a:rPr lang="ru-RU" sz="36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Задачи: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Изучить и протестировать экспериментальную установку.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Написать и протестировать скрипты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Провести серию измерений.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Построить графики зависимостей</a:t>
            </a:r>
            <a:endParaRPr lang="en-US" sz="36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083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A4576E-DDBC-9D89-CAC1-5F47E947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0386DE-02BB-6C0C-F825-E4A52133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Теоретический материал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0384A0B1-DBF6-EF15-9A85-1874779178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9984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sz="3600" dirty="0">
                    <a:latin typeface="Bahnschrift Condensed" panose="020B0502040204020203" pitchFamily="34" charset="0"/>
                  </a:rPr>
                  <a:t>Струя газа, попадая в массу окружающей ее среды газа, постепенно расширяется и, в конечном счете, рассеивается в ней.</a:t>
                </a:r>
              </a:p>
              <a:p>
                <a:r>
                  <a:rPr lang="ru-RU" sz="3600" dirty="0">
                    <a:latin typeface="Bahnschrift Condensed" panose="020B0502040204020203" pitchFamily="34" charset="0"/>
                  </a:rPr>
                  <a:t>Между струей и окружающей средой происходит обмен количеством движения, струя подтормаживается, расширяется и одновременно увлекает с собой часть «внешнего» газа. Вследствие этих эффектов расход струи увеличивается.</a:t>
                </a:r>
              </a:p>
              <a:p>
                <a:r>
                  <a:rPr lang="ru-RU" sz="3600" dirty="0">
                    <a:latin typeface="Bahnschrift Condensed" panose="020B0502040204020203" pitchFamily="34" charset="0"/>
                  </a:rPr>
                  <a:t>Скорость можно определить по измерению давления , используя формулу Бернулли: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i="0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ru-RU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ru-RU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384A0B1-DBF6-EF15-9A85-187477917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9984"/>
                <a:ext cx="10515600" cy="4351338"/>
              </a:xfrm>
              <a:blipFill>
                <a:blip r:embed="rId2"/>
                <a:stretch>
                  <a:fillRect l="-1391" t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77209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506C6D3-A834-94EC-B3A2-3144A34D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Экспериментальная установка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E3B7AB0-5583-EBC0-CEEE-1864F4C02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924" y="1690688"/>
            <a:ext cx="6032384" cy="4705002"/>
          </a:xfrm>
        </p:spPr>
        <p:txBody>
          <a:bodyPr/>
          <a:lstStyle/>
          <a:p>
            <a:r>
              <a:rPr lang="ru-RU" sz="3600" dirty="0">
                <a:latin typeface="Bahnschrift Condensed" panose="020B0502040204020203" pitchFamily="34" charset="0"/>
              </a:rPr>
              <a:t>Основными элементами установки являются:</a:t>
            </a:r>
          </a:p>
          <a:p>
            <a:r>
              <a:rPr lang="ru-RU" sz="3600" dirty="0">
                <a:latin typeface="Bahnschrift Condensed" panose="020B0502040204020203" pitchFamily="34" charset="0"/>
              </a:rPr>
              <a:t>Сопло</a:t>
            </a:r>
          </a:p>
          <a:p>
            <a:r>
              <a:rPr lang="ru-RU" sz="3600" dirty="0">
                <a:latin typeface="Bahnschrift Condensed" panose="020B0502040204020203" pitchFamily="34" charset="0"/>
              </a:rPr>
              <a:t>Устройство с шаговым двигателем, позволяющим перемещать трубку Пито перпендикулярно потоку газа</a:t>
            </a:r>
          </a:p>
          <a:p>
            <a:r>
              <a:rPr lang="ru-RU" sz="3600" dirty="0">
                <a:latin typeface="Bahnschrift Condensed" panose="020B0502040204020203" pitchFamily="34" charset="0"/>
              </a:rPr>
              <a:t>Компьютер</a:t>
            </a:r>
          </a:p>
          <a:p>
            <a:r>
              <a:rPr lang="ru-RU" sz="3600" dirty="0">
                <a:latin typeface="Bahnschrift Condensed" panose="020B0502040204020203" pitchFamily="34" charset="0"/>
              </a:rPr>
              <a:t>Датчик давления с АЦП.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764853C1-8D60-B0CA-7966-AEC8E0B6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92" y="1481676"/>
            <a:ext cx="4488295" cy="527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7873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0C6796E-1616-E4CA-D4DF-B0C0888A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Схема измерений</a:t>
            </a:r>
          </a:p>
        </p:txBody>
      </p:sp>
      <p:pic>
        <p:nvPicPr>
          <p:cNvPr id="5" name="Рисунок 4" descr="Изображение выглядит как диаграмма, текст, снимок экран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C6C8732D-937F-F20C-E371-9C01CBB6D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39" y="1485850"/>
            <a:ext cx="3729221" cy="524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85215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516BD1-5298-0852-2A9E-026EBD76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D9A3439-954B-BD63-B34D-499112B3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08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(калибровка шагов)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C5C06EEB-18CE-2B75-C64C-3219FFEE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76" y="1044775"/>
            <a:ext cx="9736608" cy="549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762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E33D59-0F7E-0E35-DB39-5EAC636C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88846CA-6D73-4F59-41D6-ABD4D804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08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(калибровка давления)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BF67C92E-4283-180B-07D0-3FF5E276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08" y="1042216"/>
            <a:ext cx="9906965" cy="558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0000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8D7C28-8329-8F9D-0A58-EECFFDC3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1A9EA6A-267F-398A-2A26-523618F2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5785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(полученные скорости)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5898475B-0A44-CFE7-F53C-2CACBA0F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28" y="888897"/>
            <a:ext cx="9982063" cy="562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4647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05EF56-E13A-1826-667E-C99F400A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322CC0-C142-E974-7027-132AFF4A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653701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E61D1A1-F14C-463E-2DDF-B50CDDE3D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822" y="2256464"/>
            <a:ext cx="11348356" cy="2345071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3600" dirty="0">
                <a:latin typeface="Bahnschrift Condensed" panose="020B0502040204020203" pitchFamily="34" charset="0"/>
              </a:rPr>
              <a:t>Была подтверждена зависимость изменения скорости потока воздуха в сечении затопленной струи от расстояния до сопла - чем больше расстояние, меньше скорость потока воздуха. Также, с увеличением расстояния увеличивается расход затопленной струи. </a:t>
            </a:r>
          </a:p>
          <a:p>
            <a:pPr marL="0" indent="0" algn="ctr">
              <a:buNone/>
            </a:pPr>
            <a:endParaRPr lang="en-US" sz="40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776158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138</Words>
  <Application>Microsoft Office PowerPoint</Application>
  <PresentationFormat>Произвольный</PresentationFormat>
  <Paragraphs>32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Расход затопленной струи Б03-503</vt:lpstr>
      <vt:lpstr>Содержание</vt:lpstr>
      <vt:lpstr>Цель работы и задачи</vt:lpstr>
      <vt:lpstr>Теоретический материал</vt:lpstr>
      <vt:lpstr>Экспериментальная установка</vt:lpstr>
      <vt:lpstr>Схема измерений</vt:lpstr>
      <vt:lpstr>Результаты (калибровка шагов)</vt:lpstr>
      <vt:lpstr>Результаты (калибровка давления)</vt:lpstr>
      <vt:lpstr>Результаты (полученные скорости)</vt:lpstr>
      <vt:lpstr>Заключение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Расход затопленной струи Б03-503</dc:title>
  <dc:creator>Anahit -</dc:creator>
  <cp:lastModifiedBy>User</cp:lastModifiedBy>
  <cp:revision>5</cp:revision>
  <dcterms:created xsi:type="dcterms:W3CDTF">2025-09-22T12:45:36Z</dcterms:created>
  <dcterms:modified xsi:type="dcterms:W3CDTF">2025-12-11T11:53:48Z</dcterms:modified>
</cp:coreProperties>
</file>